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A0-4330-A790-51368D81956A}"/>
              </c:ext>
            </c:extLst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A0-4330-A790-51368D81956A}"/>
              </c:ext>
            </c:extLst>
          </c:dPt>
          <c:dPt>
            <c:idx val="2"/>
            <c:bubble3D val="0"/>
            <c:spPr>
              <a:solidFill>
                <a:srgbClr val="B886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A0-4330-A790-51368D81956A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CA0-4330-A790-51368D81956A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CA0-4330-A790-51368D81956A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A0-4330-A790-51368D81956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Telangana CF (25.3%)</c:v>
                </c:pt>
                <c:pt idx="1">
                  <c:v>Navi Finserv (37.2%)</c:v>
                </c:pt>
                <c:pt idx="2">
                  <c:v>Achintya Sec. (37.5%)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2531369</c:v>
                </c:pt>
                <c:pt idx="1">
                  <c:v>3716518</c:v>
                </c:pt>
                <c:pt idx="2">
                  <c:v>3753129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A0-4330-A790-51368D8195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(₹ Lakh)</c:v>
                </c:pt>
              </c:strCache>
            </c:strRef>
          </c:tx>
          <c:spPr>
            <a:solidFill>
              <a:srgbClr val="B8860B"/>
            </a:solidFill>
            <a:effectLst/>
          </c:spPr>
          <c:invertIfNegative val="0"/>
          <c:dLbls>
            <c:numFmt formatCode="\₹#,##0.0&quot;L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Investment</c:v>
                </c:pt>
                <c:pt idx="1">
                  <c:v>Value at Maturity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20-42B1-A466-258FFEF261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651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Bond Portfolio for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Conservative Investor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 Wealth Live Bonds — Selection, Allocation &amp; Returns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82296" cy="8229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4178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Submission | Investor Relations Executive, Wint Wealth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Neha Purohit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Bond?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bond is a fixed-income instrument — the investor lends money to the issuer for a fixed tenure, earning periodic coupon (interest) and getting principal back at maturity.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349240" cy="37490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5349240" cy="822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60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Secured Bond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449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RISK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a specific asset/collateral of the issuer (receivables, property, etc.)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issuer defaults, bondholders have first claim on that pledged collateral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Generally lower yield, reflecting the lower risk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349240" cy="37490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2240280"/>
            <a:ext cx="5349240" cy="8229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560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Unsecured Bond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0449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RISK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5204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backed by any specific collateral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Repayment depends purely on the issuer's general creditworthiness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Generally higher yield, to compensate investors for the extra risk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bonds shortlisted for this portfolio are secured instruments — prioritising capital safety for the investor.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 Wealth — Bond Portfolio Case Study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conservative investor needs their capital back, on time, to buy a home.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7830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99339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CAPITAL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134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 Crore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9260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Recently liquid funds, ready to deploy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606040" cy="17830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5304" y="199339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HORIZON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75304" y="23134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Months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75304" y="29260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— liquidity required at the 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72784" y="1828800"/>
            <a:ext cx="2606040" cy="17830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37376" y="199339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RETURN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23134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 XIRR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9260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vs. a fixed deposit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34856" y="1828800"/>
            <a:ext cx="2606040" cy="17830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99448" y="199339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299448" y="23134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Purchase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299448" y="29260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loss is not an acceptable outcome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11192256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portfolio must deliver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4805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of principal — through secured, investment-grade bonds only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 annualized return (XIRR), competitive with the investor's expectations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liquidity at the 15-month mark, aligned to the property purchase timeline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 Wealth — Bond Portfolio Case Study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Portfolio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bonds were selected from Wint Wealth's live shelf.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30175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Screened Wint Wealth's live bond shelf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the full set of live, tradeable bonds on Wint Wealth's platform.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1920240"/>
            <a:ext cx="3520440" cy="30175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4636008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3600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against investor requirements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3566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 Cr capital, ~15-month horizon, ~10% XIRR target, and capital safety — secured, investment-grade instruments only.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74736" y="1920240"/>
            <a:ext cx="3520440" cy="3017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8449056" y="2194560"/>
            <a:ext cx="502920" cy="50292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4905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Shortlisted 3 bonds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3566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Telangana CF, Navi Finserv, and Achintya Securities — balancing credit quality, tenure fit, and yield.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 Wealth — Bond Portfolio Case Study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Portfolio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₹1,00,01,016 deployed across 3 secured bonds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60350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920240"/>
          <a:ext cx="489204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Coupon / YTM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Alloc.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Telangana CF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9.35% / 8.00%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mo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₹25.3L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Navi Finserv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10.75% / 10.75%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mo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₹37.2L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Achintya Securities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10.00% / 11.00%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mo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₹37.5L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766560" y="38404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bonds are secured Bonds rated A- or better; capital is spread across issuers to diversify credit risk.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 Wealth — Bond Portfolio Case Study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Returns &amp; Maturity Value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 from actual coupon and redemption cash flows (see accompanying Excel model).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429000" cy="1600200"/>
          </a:xfrm>
          <a:prstGeom prst="rect">
            <a:avLst/>
          </a:prstGeom>
          <a:solidFill>
            <a:srgbClr val="26358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₹1,00,01,016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920240"/>
            <a:ext cx="3429000" cy="1600200"/>
          </a:xfrm>
          <a:prstGeom prst="rect">
            <a:avLst/>
          </a:prstGeom>
          <a:solidFill>
            <a:srgbClr val="26358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21945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₹1,09,85,283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VALUE AT MATURITY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75320" y="1920240"/>
            <a:ext cx="3429000" cy="1600200"/>
          </a:xfrm>
          <a:prstGeom prst="rect">
            <a:avLst/>
          </a:prstGeom>
          <a:solidFill>
            <a:srgbClr val="26358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3920" y="21945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10.28%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XIRR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94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interest earned over the holding period: ₹9,84,267 (bonds redeemed at par on their respective maturity dates). Target XIRR was ~10% — the modelled portfolio XIRR of 10.28% clears that target, even under the conservative assumption of no reinvestment of interim coupons.</a:t>
            </a:r>
            <a:endParaRPr lang="en-US" sz="14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777240" y="4800600"/>
          <a:ext cx="694944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 Wealth — Bond Portfolio Case Study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645920"/>
            <a:ext cx="5120640" cy="21031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5120640" cy="8229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920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10.28%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XIRR — vs. a 10% TARGET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beaten: 10.28% XIRR vs. the investor's ~10% requirement.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maintained: all 3 bonds are secured, investment-grade (AA / A / A-).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honoured: portfolio structured around the investor's 15-month horizon.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114800"/>
            <a:ext cx="1056132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43434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portfolio is structured to balance capital safety, diversification and the investor's ~10% return objective within the defined 15-month investment horizon.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 Wealth — Bond Portfolio Case Study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655</Words>
  <Application>Microsoft Office PowerPoint</Application>
  <PresentationFormat>Widescreen</PresentationFormat>
  <Paragraphs>112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neha purohit</cp:lastModifiedBy>
  <cp:revision>4</cp:revision>
  <dcterms:created xsi:type="dcterms:W3CDTF">2026-09-27T20:12:25Z</dcterms:created>
  <dcterms:modified xsi:type="dcterms:W3CDTF">2026-09-27T21:31:11Z</dcterms:modified>
</cp:coreProperties>
</file>